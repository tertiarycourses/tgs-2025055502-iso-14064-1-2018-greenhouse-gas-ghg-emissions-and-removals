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372" r:id="rId12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5055502-ISO-14064-1-2018-Greenhouse-Gas-GHG-Emissions-and-Removal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02920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554480"/>
            <a:ext cx="5852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65960"/>
            <a:ext cx="5943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ISO 14064-1:2018 Greenhouse Gas (GHG) Emissions and Removals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069080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370832"/>
            <a:ext cx="5760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TGS-2025055502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Version v2.0  ·  20 August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10819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and Course Orientation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every required SSG digital-attendance session.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SSG QR code shown by the trainer or administrator.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Confirm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Wait for the successful submission acknowledgement.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 least 75% attendance is required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GENERAL TRAINER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this profile before class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NAMED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 and course developer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EXPERTISE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Sustainability systems, organisational GHG accounting and business improvement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professional and technical programmes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Tertiary Infotech / Tertiary Courses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You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Name, organisation and role.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Your footprint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emission source or climate issue relevant to your work.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Your challenge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recurring GHG data, reporting or reduction problem.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Your outcome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successful learning looks like after two days.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Be present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Return from breaks on time and complete attendance.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Ask, challenge and contribute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conversation at a time; disagree professionally.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Protect information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fictional or sanitised workplace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Stay practical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Link every idea to a process or decision.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Own the result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Verify your activity output before submission.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Two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· ISO 14064-1 inventory design, boundaries, quantification, reporting and risk controls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9:00-10:30 · administration, GHG science and ISO family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10:40-13:00 · boundaries and Activities 1-2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14:00-15:20 · quantification and Activity 3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15:30-18:00 · review, governance and Activities 4-5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· Value-chain reduction, renewable energy, offsets and integrated carbon strategy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9:00-10:30 · hotspots, lifecycle and Activity 6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10:40-13:00 · supplier roadmap and renewable energy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14:00-15:20 · offset integrity and Activity 9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15:30-16:00 · Activity 10 and wrap-up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16:00-18:00 · WA then Case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GREENHOUSE GAS ACCOUNTING · ACC-ADV-0002-1.1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Innovate organisational GHG accounting systems using current climate science, ISO 14064-1 principles and broader sustainability initiatives.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Develop risk-informed GHG management plans that meet relevant reporting and regulatory requirements and support mitigation decisions.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Develop operational emissions-reduction strategies across product lifecycles, value chains, supply chains and renewable-energy options.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Generate economically viable carbon-offset and carbon-credit strategies aligned with organisational targets and residual-emissions needs.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GREENHOUSE GAS ACCOUNTING · ACC-ADV-0002-1.1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Knowledge Alignment · K1-K5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Evolving research on GHG dynamics and innovation in GHG accounting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Integration of GHG accounting with sustainability and climate initiatives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GHG reduction across product lifecycles, value chains and supply chains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Renewable-energy technologies, economics, sustainability impacts and regulation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Best-practice approaches for GHG accounting and reporting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GREENHOUSE GAS ACCOUNTING · ACC-ADV-0002-1.1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Knowledge Alignment · K6-K9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K6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Relevant regulations, programmes and reporting guidelines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K7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Frameworks for evaluating, mitigating and monitoring GHG-related risks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K8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Approaches and economics of carbon-offset projects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K9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Sustainability frameworks integrated into GHG-reduction strategy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GREENHOUSE GAS ACCOUNTING · ACC-ADV-0002-1.1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Ability Alignment · A1-A4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Develop reduction strategies across product lifecycles, value chains and supply chains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Generate the economic costs and benefits of offset projects to determine suitability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Innovate organisational GHG accounting using emerging science and accounting practice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Develop GHG management frameworks, plans and monitoring initiatives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GREENHOUSE GAS ACCOUNTING · ACC-ADV-0002-1.1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Ability Alignment · A5-A8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Develop a carbon strategy for project selection and credit optimisation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A6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Influence economically viable renewable-energy strategies aligned with sustainability goals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A7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Develop GHG accounting and reporting guidelines integrated with sustainability initiatives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A8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Define assessments and mitigation strategies for GHG-related risks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Individual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discussion; answer in your own words.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slides, Learner Guide and approved activity material only.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Secure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Place phones and other materials under the table; no recording.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the provided document and upload to the LMS.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Competency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assessed K and A criterion must be Competent.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Rights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Re-assessment and appeal routes are available.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Written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9 open-ended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K1-K9 · 1 hour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Case Study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One coherent scenario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A1-A8 · 1 hour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Competency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 in both instruments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At least 75% attendance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Funding criteria apply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SELF-CONTAINED ACTIVITY PACKS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the Course Activities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Option A · Clone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the repository link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Copy the HTTPS clone URL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the activities folder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Option B · 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GitHub · Code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Download ZIP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Extract and open activities/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Each folder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Detailed README.md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Working XLSX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Printable PDF/checklist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89788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  <a:hlinkClick r:id="rId2"/>
              </a:rPr>
              <a:t>Open the ISO 14064-1 activity repository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EVIDENCE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Use Evidence Before Claims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the decision, document the boundary, calculate transparently, review the evidence and retain the approved output.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https://lms-tms.tertiaryinfotech.com/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Portal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•  Download the learner slides and Learner Guide.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•  Open the complete Activities folder and working files.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•  Complete and submit assessments only during the scheduled window.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Foundations of Organisational GHG Accounting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GHG science · ISO 14064 family · accounting principles · targets · sustainability 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K5 · A3 · A7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01 · Core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Relevance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Select sources, sinks, reservoirs and methods that serve intended users and decisions.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Completeness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Include all significant emissions and removals within justified boundaries.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Consistency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methods that support meaningful comparison over time and disclose changes.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Accuracy and transparency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Reduce bias and uncertainty, and document assumptions, evidence and limitations.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K5 · A3 · A7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GHG science for organisational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Radiative forcing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GHGs absorb and re-emit infrared energy, changing the Earth's energy balance.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Long-lived stocks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Carbon dioxide accumulates; current emissions add to a persistent atmospheric stock.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Different gases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Methane, nitrous oxide and fluorinated gases differ in lifetime and warming effect.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CO2e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common unit converts gas mass using a declared global-warming-potential basis.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GHG SCIENCE FOR ORGANISATIONAL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Inventory all relevant gases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State the GWP source and assessment basis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science to improve priorities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Separate physical fact from target choice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CO2e is a comparison convention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lower annual total does not erase historic stock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GWP values can change by assessment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Avoid false precision beyond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K5 · A3 · A7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ISO 14064 family and assurance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 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Organisation-level principles and requirements for inventory design, quantification and reporting.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 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Project-level quantification, monitoring and reporting of emission reductions or removal enhancements.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 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Principles and requirements for verification and validation of GHG statements.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Related frameworks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GHG Protocol, ISO 14067 and programme rules can complement—but not silently replace—the chosen criteria.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ISO 14064 FAMILY AND ASSURANCE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Name the inventory criteria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Define the intended assurance use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Keep organisation and project claims distinct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Resolve conflicting programme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Certification is not automatic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project credit is not an organisational removal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One framework mapping may not be exact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authorised standards text for formal conformance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K5 · A3 · A7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ISO 14064-1 principles in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Relevance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Information and boundaries must serve intended users and decisions.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Completeness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Include significant sources and justify omissions transparently.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Consistency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Methods and boundaries support comparison through time.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Accuracy and transparency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Reduce bias and uncertainty and disclose assumptions, evidence and limitations.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ISO 14064-1 PRINCIPLES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Turn each principle into a review question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materiality and significance deliberately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Document changes at the time they occur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Prefer traceable evidence over unsupported detail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Principles interact and require judgement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Completeness does not mean perfect data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Consistency does not freeze weak methods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Transparency does not excuse avoidable 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K5 · A3 · A7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Organisational and reporting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Purpose first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Intended users and decisions determine the inventory design.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Consolidation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Equity share, financial control or operational control changes which operations are included.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Reporting boundary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Direct and significant indirect emissions are organised into decision-useful categories.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Boundary 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Ownership, leases, contracts, operating authority and influence support the decision.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ORGANISATIONAL AND REPORTING BOUNDARIES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Map all entities before excluding any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Apply one consolidation approach consistently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Document outsourced activities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Reassess after acquisitions or divestments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Legal ownership and operational control can differ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Outsourcing does not make emissions disappear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Boundary choice can change trends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Avoid cherry-picking low-emission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K5 · A3 · A7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Science-aligned targets and target adjustments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Target boundary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Specify gases, operations, categories and coverage so ambition can be compared with the inventory.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Base year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Choose a representative period and publish the recalculation policy before structural change occurs.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Pathway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Connect near-term milestones and initiatives to an explicit trajectory rather than a distant headline alone.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Adjustment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Recalculate for material structural or methodology changes; do not rewrite history for ordinary performance variance.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SCIENCE-ALIGNED TARGETS AND TARGET ADJUSTMENTS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Link target scope to inventory scope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Define a significance threshold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Separate recalculation from restatement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Retain approvals and an adjustment 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science-aligned target is not an inventory requirement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Growth assumptions must remain visible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Acquisitions can break comparability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Offsets do not repair an inconsistent base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K5 · A3 · A7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Quantification, base year and report integrity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Activity data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Measured or estimated quantities describe the emission-causing activity.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Emission factor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documented coefficient translates activity into gas mass or CO2e.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Base year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stable comparison point needs recalculation rules for structural and methodological change.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Report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Disclose boundaries, methods, exclusions, factors, uncertainty, changes and performance separately.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QUANTIFICATION, BASE YEAR AND REPORT INTEGRITY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Retain a calculation trail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Reconcile to primary records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Recalculate under a written policy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Report gross inventory before offsets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Units cause frequent large errors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Spend data can mask physical change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Estimated data must be labelled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Credits must not be netted into gross emissions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PRACTICE OVERVIEW · FOUNDATIONS OF ORGANISATIONAL GHG ACCOUNTING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Activities · Topic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Set the GHG Inventory Purpose and Boundaries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 · K2 · K5 · A3 · LO1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60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a Significant GHG Source and Sink Register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 · K5 · A3 · A7 · LO1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60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Activity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Quantify a Base-Year Inventory and Reporting Guide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 · K2 · K5 · A3 · A7 · LO1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75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· K2 · K5 · A3 · LO1 · 60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the GHG Inventory Purpose and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become the GHG inventory team for EcoForge Asia and turn an incomplete corporate structure into a justified organisational and reporting boundary.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inventory purpose statement, facility map, consolidation decision log and reporting-boundary diagram.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Activity workbook · EcoForge scenario pack · boundary decision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· K2 · K5 · A3 · LO1 ·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Review the fact 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Define inventory purpose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Map entities and 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Select consolidation approach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Record boundary decisions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the GHG Inventory Purpose and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diagram covers every named entity and operation; the consolidation method is applied consistently; every exclusion and unresolved item has a transparent rationale and owner.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· K5 · A3 · A7 · LO1 · 60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Significant GHG Source and Sink Register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inspect EcoForge operations and build a complete source register using ISO 14064-1 categories, with documented significance criteria.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source/sink register, category map, significance assessment and data-owner matrix.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Source inventory workbook · process narrative · significance criteria cards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· K5 · A3 · A7 · LO1 ·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Map the value 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Classify sources and sinks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Identify relevant gases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Define significance criteria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Score indirect sources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Significant GHG Source and Sink Register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register contains all scenario sources, uses the six-category logic consistently, treats removals separately from offsets and gives evidence-based significance decisions.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· K2 · K5 · A3 · A7 · LO1 · 75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Quantify a Base-Year Inventory and Reporting Guide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convert EcoForge activity data into CO2e, investigate anomalies and draft the accounting rules that make the inventory repeatable.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quantified 2025 inventory, calculation trail, uncertainty register, base-year policy and reporting-guideline extract.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GHG calculation workbook · factor register · sample invoices and meter records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· K2 · K5 · A3 · A7 · LO1 ·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Validate source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Standardise units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Calculate emissions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Separate special items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Reconcile and 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Quantify a Base-Year Inventory and Reporting Guide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result traces to source data, units, factor and GWP basis; totals reconcile; uncertainty and recalculation triggers are explicit; no offset is netted into the inventory.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K5 · A3 · A7 · LO1 · TOPIC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· Foundations of Organisational GHG Accounting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Select sources, sinks, reservoirs and methods that serve intended users and decisions.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intended users, reporting boundaries and consolidation choices for a credible organisational GHG inventory.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Demonstrate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Classify direct and indirect GHG sources, sinks and reservoirs and assess their significance for reporting.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the completed activity artefacts and review feedback.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Regulatory-Compliant and Risk-Responsive GHG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Reporting requirements · inventory review · governance · climate risk · control and conformance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K6 · K7 · A4 · A8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02 · Core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Governance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Assign authority, competence, control ownership and escalation for inventory quality.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Compliance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Maintain a register of applicable laws, schemes, contracts and reporting expectations.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Assess data, methodological, transition, physical and reputational GHG risks.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Review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controls, reconciliation, uncertainty evaluation and management review before reporting.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K6 · K7 · A4 · A8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Reporting requirements and conformance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Applicable obligations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Laws, schemes, contracts and lender or customer terms can create different requirements.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Reporting criteria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inventory must name the standard, programme rules and reporting period used.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Mandatory disclosures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Boundaries, categories, methods, exclusions, uncertainty and changes need controlled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Approval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Management accepts responsibility for the GHG statement before external use.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REPORTING REQUIREMENTS AND CONFORMANCE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Maintain an obligation register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Translate each requirement into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Track submission and approval dates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Control public claim versions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Voluntary does not mean consequence-free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Different users may need different views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Legal applicability is context-specific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imply verification before it occurs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K6 · K7 · A4 · A8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Inventory data governance and internal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Ownership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source has an accountable owner and competent preparer.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Method 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Factors, GWP values, calculations and estimates are versioned and approved.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Source records are complete, retrievable, protected and retained.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Review 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Independent checks, reconciliations and issue closure support a reliable statement.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INVENTORY DATA GOVERNANCE AND INTERNAL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a source-level RACI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Lock formulas and controlled inputs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Log changes and approvals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high-risk sources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Sustainability should not own all data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spreadsheet can hide silent changes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is more than proofreading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One approval cannot compensate for weak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K6 · K7 · A4 · A8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Reviewing a GHG inventory 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Boundary test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Confirm included entities, categories and significant exclusions match documented decisions.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Calculation test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Reperform samples from source record through unit conversion, factor and total.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Disclosure test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claims, estimates, limitations and changes are described accurately.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Trend test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Challenge whether structural change, method change or data gaps explain apparent performance.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REVIEWING A GHG INVENTORY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both top-down and bottom-up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Sample anomalies and high magnitude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Resolve contradictions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Retest every correction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balanced total can contain offsetting errors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factor source without vintage is weak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Narrative claims require the same control as numbers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Verification readiness is not verification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K6 · K7 · A4 · A8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GHG risk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Inventory risk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Incomplete sources, wrong units, weak factors, estimates or uncontrolled formulas distort results.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Transition risk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Policy, carbon cost, technology and market expectations can affect competitiveness.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Physical risk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Acute and chronic hazards can disrupt operations, data and value-chain performance.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Claims risk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Ambiguous boundaries or unsupported neutrality and reduction statements damage trust.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GHG RISK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Write cause-event-consequence statements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Assess current-control effectiveness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thresholds and early indicators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Link material risks to management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Risk is not only the reported number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High uncertainty can be decision material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Physical and transition risks can interact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Greenwashing risk is a governance issue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K6 · K7 · A4 · A8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Risk-responsive GHG management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Objectives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Connect inventory reliability and reduction outcomes to strategy and obligations.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Controls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Prevent, detect and correct data, method, performance and claim failures.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Monitoring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leading and lagging indicators with thresholds and escalation.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Learning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Review changes, incidents, findings and stakeholder challenges to improve the system.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RISK-RESPONSIVE GHG MANAGEMENT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Prioritise by consequence and control weakness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Assign decision rights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response scenarios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Report residual risk transparently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register without action is not management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Too many KPIs obscure warning signals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Risk acceptance needs authority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Plans must evolve with business 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PRACTICE OVERVIEW · REGULATORY-COMPLIANT AND RISK-RESPONSIVE GHG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Activities · Topic 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Review a GHG Inventory and Resolve Quality Findings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K5 · K6 · A4 · LO2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75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a GHG Governance, Compliance and Risk Plan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K6 · K7 · A4 · A8 · LO2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60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Outputs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Detailed procedure in LG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Workbook and PDF pack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Evidence-based acceptance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K5 · K6 · A4 · LO2 · 75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Review a GHG Inventory and Resolve Quality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act as an independent internal review team and test EcoForge's draft report, calculation workbook and control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review plan, evidence log, finding register, corrected disclosure set and management approval brief.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Draft inventory report · evidence pack · review workbook · finding rubric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K5 · K6 · A4 · LO2 ·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Set review criteria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Trace totals to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Reperform calculations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Test disclosures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Resolve findings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Review a GHG Inventory and Resolve Quality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seeded defects are detected; each finding is evidence-based; corrections are rechecked; the final brief distinguishes resolved issues from residual limitations.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K6 · K7 · A4 · A8 · LO2 · 60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GHG Governance, Compliance and Risk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translate EcoForge's reporting obligations and climate exposures into a practical governance and risk-management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compliance register, RACI, GHG risk register, control plan, monitoring dashboard and escalation protocol.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Risk workbook · obligation cards · governance case pack · dashboard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K6 · K7 · A4 · A8 · LO2 ·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Register obligations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Assign decision rights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Describe GHG risks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 controls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Plan mitigation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GHG Governance, Compliance and Risk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applicable obligation has an owner and evidence; high risks have proportionate controls and indicators; accountability and escalation are unambiguous.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K6 · K7 · A4 · A8 · LO2 · TOPIC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· Regulatory-Compliant and Risk-Responsive GHG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Assign authority, competence, control ownership and escalation for inventory quality.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 inventory evidence, controls, conformance and report completeness before management approval or verification.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Demonstrate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Design roles, controls, compliance monitoring and mitigation actions for material GHG risks.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the completed activity artefacts and review feedback.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Reduction Strategy → Carbon Strategy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Operationalising Emissions Reduction Across Value Chains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Boundaries · source data · baselines · lifecycle and supplier action · renewable energy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K3 · K4 · A1 · A6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03 · Core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Inventory-to-action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hotspot and trend evidence to direct reduction effort where it matters.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Hierarchy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Avoid and reduce first; substitute, recover and neutralise only where appropriate.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Value chain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Engage suppliers and customers using category-relevant data and decision levers.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Energy strategy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efficiency, electrification and renewable-energy options on cost and integrity.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K3 · K4 · A1 · A6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inventory to reduction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Avoid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Remove unnecessary activity, demand or material before optimising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Reduce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Improve efficiency, yield, maintenance, logistics and process control.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Substitute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Change fuel, material, technology, product design or service model.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Neutralise residuals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Consider high-integrity removals or offsets only for clearly defined residual emissions.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FROM INVENTORY TO REDUCTION HIERARCHY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Start with hotspots and influence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Quantify expected abatement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Check rebound and burden shift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Separate forecast from realised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Largest is not always most controllable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Low-cost action can have low impact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Avoided emissions differ from inventory reductions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Offsetting is not operational reduction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K3 · K4 · A1 · A6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Lifecycle and value-chain thinking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Upstream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Materials, capital goods, fuel supply, inbound logistics and supplier operations.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Operations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Energy, process emissions, refrigerants, waste and owned transport.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Downstream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Distribution, product use, maintenance, end of life and customer behaviour.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Interfaces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Design and procurement choices can shift emissions between stages and organisations.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LIFECYCLE AND VALUE-CHAIN THINKING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Map physical flows before calculating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Find decision levers at interfaces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functional comparisons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Check end-of-life assumptions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Spend is not a lifecycle model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Recycling claims need yield and allocation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Efficiency can trigger rebound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double count supplier and product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K3 · K4 · A1 · A6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Supplier data and engagement ladder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Estimate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Screen with spend, mass or industry-average factors while labelling limitations.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Request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Ask for activity, facility or product data using a clear specification.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Collaborate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Improve methods, capability and reduction plans with strategic suppliers.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Contract and verify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Embed criteria, evidence, improvement and assurance expectations into sourcing.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SUPPLIER DATA AND ENGAGEMENT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Segment by emissions and influence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Standardise data requests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Reward data improvement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Track both coverage and reduction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supplier claim may use a different boundary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Primary data can still be poor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Questionnaires create burden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Changing supplier may export risk rather than reduce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K3 · K4 · A1 · A6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Reduction baselines, targets and monitoring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Baseline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 period, boundary, method, quality and structural-change treatment.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Target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absolute or intensity metric, coverage, ambition, milestones and responsibility.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Pathway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Model business-as-usual and initiative effects without hiding growth assumptions.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Monitoring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Track implementation, realised activity change, emission factors and residual gaps.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REDUCTION BASELINES, TARGETS AND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annual and interim milestones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Reconcile projects to inventory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Separate activity and factor effects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Reforecast when assumptions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Intensity can fall while absolute emissions rise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Targets do not prove achievement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Forecast abatement may overlap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Grid decarbonisation is not an internal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K3 · K4 · A1 · A6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Renewable energy and economic integrity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Efficiency first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Reduce demand to lower cost, capacity and exposure.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Onsite generation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Model technical yield, self-consumption, export, maintenance and asset life.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Electrification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 process suitability, load, grid trajectory, resilience and capital needs.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Procurement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Assess contract, certificate geography, vintage, exclusivity, retirement and claim rules.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RENEWABLE ENERGY AND ECONOMIC INTEGRITY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Compare NPV and cost per tCO2e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Run tariff and yield sensitivities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State inventory accounting treatment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Stage investment with decision gates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certificate does not reduce physical onsite use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Market-based claims require controls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Cheap credits can distract from efficiency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Technology choice must preserve safety and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PRACTICE OVERVIEW · OPERATIONALISING EMISSIONS REDUCTION ACROSS VALUE CHAINS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Activities · Topic 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Diagnose Hotspots and Set a Reduction Baseline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K3 · A1 · LO3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50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Design a Supplier and Product Reduction Roadmap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K3 · K9 · A1 · LO3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60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Activity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Develop a Renewable-Energy Business Case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K4 · A6 · LO3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55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K3 · A1 · LO3 · 50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Diagnose Hotspots and Set a Reduction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convert EcoForge's inventory into a prioritised hotspot and abatement-opportunity view without confusing spend, emissions and influence.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hotspot dashboard, lifecycle map, baseline statement and opportunity shortlist.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Inventory workbook · lifecycle map · hotspot scoring 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K3 · A1 · LO3 ·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Rank emission hotspots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Map lifecycle stages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Test burden shifts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Define the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Prioritise reduction levers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6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Diagnose Hotspots and Set a Reduction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Priorities reflect magnitude, influence and uncertainty; baseline and intensity denominator are explicit; no recommendation creates an undisclosed lifecycle burden shift.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K3 · K9 · A1 · LO3 · 60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a Supplier and Product Reduction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build a phased roadmap that improves EcoForge's supplier data and reduces embodied, logistics and product-use emissions.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24-month reduction roadmap, supplier data ladder, initiative cards, KPI set and implementation governance.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Supplier portfolio workbook · initiative design cards · roadmap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K3 · K9 · A1 · LO3 ·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Segment suppliers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Set a data ladder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Design engagement routes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Quantify opportunities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Test feasibility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7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a Supplier and Product Reduction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roadmap contains quantified, owned and time-bound actions; supplier data improves progressively; product actions address lifecycle trade-offs and claim boundaries.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K4 · A6 · LO3 · 55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Develop a Renewable-Energy Business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advise EcoForge on a portfolio of onsite solar, efficiency, electrification and renewable-electricity procurement options.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scenario model, marginal-abatement view, option scorecard and executive recommendation.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Energy profile workbook · tariff and option facts · financial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K4 · A6 · LO3 ·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Establish energy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Model efficiency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Evaluate onsite solar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Evaluate electrification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 renewable supply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8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Develop a Renewable-Energy Business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recommendation uses consistent assumptions, separates demand and supply levers, quantifies economics and emissions, and states certificate and claim safeguards.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K3 · K4 · A1 · A6 · LO3 · TOPIC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· Operationalising Emissions Reduction Across Value Chains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hotspot and trend evidence to direct reduction effort where it matters.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inventory, lifecycle and business data to identify hotspots, set a defensible baseline and frame reduction opportunities.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Demonstrate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Develop quantified value-chain actions, supplier engagement, product levers and monitoring milestones.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the completed activity artefacts and review feedback.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Designing Viable Carbon Offset and Strategy Plans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Residual emissions · project quality · offset economics · claims · carbon-credit optimisation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K8 · K9 · A2 · A5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04 · Core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Residual first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Offsets address clearly defined residual emissions after credible internal reductions.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Quality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 additionality, permanence, leakage, quantification, verification and double counting.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Economics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price, transaction cost, delivery risk, durability and strategic co-benefits.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Claims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precise boundaries, retirement evidence and transparent language that avoids overstatement.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K8 · K9 · A2 · A5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Residual emissions and the role of offsets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Gross inventory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Report organisational emissions and removals before external credits.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Reduction pathway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Show internal and value-chain actions against a declared baseline.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Residual emissions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what remains after feasible reduction within the target boundary.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Credit use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Disclose quantity, project, vintage, ownership, retirement and claim separately.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RESIDUAL EMISSIONS AND THE ROLE OF OFFSETS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Set an offset eligibility policy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Forecast residuals conservatively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Procure against a clear use case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Retire credits before claiming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Credits are not removals by the organisation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Future delivery may fail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Neutrality language can overstate scope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hide gross performance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K8 · K9 · A2 · A5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Carbon project integrity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Additionality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claimed outcome would not occur without the project incentive under the defined test.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Baseline and quantification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credible counterfactual, monitoring method and uncertainty treatment support the tonnes.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Permanence and leakage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Durability, reversal response and displaced emissions are addressed.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double counting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Issuance, ownership, transfer, host claims and retirement prevent duplicate use.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CARBON PROJECT INTEGRITY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methodology and project documents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Check independent validation and verification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Inspect registry status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Assess safeguards and grievance routes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Registry listing is not automatic quality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Co-benefits do not repair weak carbon accounting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Avoidance and removal have different durability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Buffer pools do not eliminate reversal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K8 · K9 · A2 · A5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Offset economics and procurement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Unit price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Quoted cost per credit is only the starting point.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Total cost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Include due diligence, legal, registry, retirement, monitoring and internal governance.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Delivery risk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Forward projects face issuance, timing, volume, policy and counterparty uncertainty.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Replacement exposure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Low-quality or failed credits may require replacement at a higher future price.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OFFSET ECONOMICS AND PROCUREMENT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Model risk-adjusted cost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portfolio limits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Set conditions precedent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Retain retirement and claim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Lowest price can carry highest risk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Co-benefits need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Vintage must match intended use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long contract can lock in weak criteria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K8 · K9 · A2 · A5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Carbon-credit portfolio optimisation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Purpose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Match credit type and timing to residual emissions and claim need.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Quality floor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non-negotiable methodology, verification, safeguards and registry conditions.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Diversification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Manage project, geography, technology, delivery and counterparty concentration.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Governance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Set approval, custody, retirement, accounting, disclosure and review responsibilities.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CARBON-CREDIT PORTFOLIO OPTIMISATION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scoring plus hard exclusions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Stage procurement over time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Reserve for delivery failure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criteria as science and policy evolve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Diversification cannot legitimise weak credits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Removal scarcity affects price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Portfolio optimisation is not emissions optimisation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Claims need boundary-specific wording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K8 · K9 · A2 · A5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Integrated organisational carbon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Inventory foundation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governed, repeatable inventory establishes what is measured and managed.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Target and pathway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Business growth, initiatives, dependencies and residuals are reconciled transparently.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Capital and risk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Investment gates balance abatement, economics, resilience, operations and data confidence.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Disclosure and learning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dashboard, annual review and claim controls keep strategy credible as conditions change.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INTEGRATED ORGANISATIONAL CARBON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Connect every initiative to an inventory source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Assign accountable owners and budgets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Stress-test key assumptions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Report gross, reduced and offset tonnes separately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strategy is not a list of projects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Targets require governance and recalculation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combine avoided and inventory emissions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Update claims when evidence changes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PRACTICE OVERVIEW · DESIGNING VIABLE CARBON OFFSET AND STRATEGY PLANS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Activities · Topic 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Evaluate Carbon Offset Projects and Economics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K8 · K9 · A2 · LO4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50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Integrate the Organisational Carbon Strategy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K2 · K7 · K8 · K9 · A2 · A5 · LO4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30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Outputs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Detailed procedure in LG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Workbook and PDF pack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Evidence-based acceptance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K8 · K9 · A2 · LO4 · 50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Evaluate Carbon Offset Projects and Economics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compare three fictional project proposals and decide whether any are suitable for EcoForge's residual-emissions strategy.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offset due-diligence register, quality scorecard, total-cost model and procurement recommendation.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Project dossiers · quality rubric · economics workbook · claims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K8 · K9 · A2 · LO4 ·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9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Define intended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Review additionality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 permanence and leakage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Verify registry controls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Score safeguards and value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9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Evaluate Carbon Offset Projects and Economics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decision is evidence-based, includes quality and financial risk, requires retirement proof, and does not use credits to obscure gross organisational emissions.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K7 · K8 · K9 · A2 · A5 · LO4 · 30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Integrate the Organisational Carbon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complete the EcoForge capstone by presenting a 2030 carbon strategy to an executive committee under cost, growth and credibility constraints.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2030 target pathway, initiative portfolio, residual-emissions forecast, offset policy, carbon-credit plan and board dashboard.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Capstone workbook · initiative portfolio · decision memo template · board role cards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K7 · K8 · K9 · A2 · A5 · LO4 ·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10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Consolidate the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Define target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Model the pathways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Sequence reduction 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Govern residual emissions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10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Integrate the Organisational Carbon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strategy reconciles baseline, pathway and residuals; reduction precedes offsetting; financial and delivery risks are explicit; targets, credits and claims have accountable governance.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K8 · K9 · A2 · A5 · LO4 · TOPIC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· Designing Viable Carbon Offset and Strategy Plans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Offsets address clearly defined residual emissions after credible internal reductions.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Assess offset quality, delivery and financial implications before procurement.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Demonstrate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Combine inventory governance, reduction pathways, renewable energy and high-integrity offsets into an executable strategy.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the completed activity artefacts and review feedback.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From Inventory Evidence to Carbon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Innovate organisational GHG accounting systems using current climate science, ISO 14064-1 principles and broader sustainability initiatives.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Develop risk-informed GHG management plans that meet relevant reporting and regulatory requirements and support mitigation decisions.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Develop operational emissions-reduction strategies across product lifecycles, value chains, supply chains and renewable-energy options.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Generate economically viable carbon-offset and carbon-credit strategies aligned with organisational targets and residual-emissions needs.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END-TO-END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Complete GHG Management 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Set purpose and boundaries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Quantify and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 risk and hotspots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Reduce and invest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Report, assure and improve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https://lms-tms.tertiaryinfotech.com/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Download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Get the learner slides PDF and Learner Guide.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Activities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Open the complete Activities folder and working files.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Assessment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the WA and Case Study during the scheduled window.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Upload completed answers and confirm successful submission.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REMINDER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9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K1-K9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1 hour · open 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Case Study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4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A1-A8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1 hour · open 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Assessment attendance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Submit on LMS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Sign summary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every required SSG digital-attendance session.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SSG QR code shown by the trainer or administrator.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Confirm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Wait for the successful submission acknowledgement.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 least 75% attendance is required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Account for what matters. Reduce what you can. Disclose what remains.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Use transparent evidence to turn an organisational inventory into credible climate decisions.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Login to LMS and 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14064-1 2018 GHG Emissions and Removals  ·  TGS-2025055502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pic>
        <p:nvPicPr>
          <p:cNvPr id="40" name="Picture 39" descr="ref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2004" y="1851660"/>
            <a:ext cx="7967686" cy="396392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777240" y="5897880"/>
            <a:ext cx="10637215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